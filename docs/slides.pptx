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vOps CA2" id="{6e5ab0fd-5629-3423-fa79-3f5a563a653b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</a:rPr>
              <a:t>Architecture: PBL Backend (Fix My City API)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DevOps CA2  |  Node/Express + MongoDB service, delivered with CI/CD, Ansible, Docker, Kubernetes and Prometheus/Grafana</a:t>
            </a:r>
            <a:endParaRPr lang="en-US" sz="1200" dirty="0"/>
          </a:p>
        </p:txBody>
      </p:sp>
      <p:sp>
        <p:nvSpPr>
          <p:cNvPr id="4" name="card-Application"/>
          <p:cNvSpPr/>
          <p:nvPr/>
        </p:nvSpPr>
        <p:spPr>
          <a:xfrm>
            <a:off x="457200" y="1417320"/>
            <a:ext cx="26517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Application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React frontend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Express API: JWT auth, bcrypt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/health and /metrics endpoints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MongoDB database</a:t>
            </a:r>
            <a:endParaRPr lang="en-US" sz="1300" dirty="0"/>
          </a:p>
        </p:txBody>
      </p:sp>
      <p:sp>
        <p:nvSpPr>
          <p:cNvPr id="7" name="card-Delivery"/>
          <p:cNvSpPr/>
          <p:nvPr/>
        </p:nvSpPr>
        <p:spPr>
          <a:xfrm>
            <a:off x="3246120" y="1417320"/>
            <a:ext cx="26517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Delivery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01168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GitHub Actions: test, build, deploy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Docker image in GHCR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Kubernetes: 3 replicas, rolling updates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Ansible configures the host</a:t>
            </a:r>
            <a:endParaRPr lang="en-US" sz="1300" dirty="0"/>
          </a:p>
        </p:txBody>
      </p:sp>
      <p:sp>
        <p:nvSpPr>
          <p:cNvPr id="10" name="card-Operations"/>
          <p:cNvSpPr/>
          <p:nvPr/>
        </p:nvSpPr>
        <p:spPr>
          <a:xfrm>
            <a:off x="6035040" y="1417320"/>
            <a:ext cx="26517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Operations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01168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Prometheus scrapes /metrics every 5s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Grafana dashboard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Uptime, latency p95, error rate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Rollback with kubectl rollout undo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</a:rPr>
              <a:t>Pipeline flow (GitHub Actions)</a:t>
            </a:r>
            <a:endParaRPr lang="en-US" sz="2600" dirty="0"/>
          </a:p>
        </p:txBody>
      </p:sp>
      <p:sp>
        <p:nvSpPr>
          <p:cNvPr id="3" name="step-0"/>
          <p:cNvSpPr/>
          <p:nvPr/>
        </p:nvSpPr>
        <p:spPr>
          <a:xfrm>
            <a:off x="457200" y="1005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18288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Push to main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09728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tep-1"/>
          <p:cNvSpPr/>
          <p:nvPr/>
        </p:nvSpPr>
        <p:spPr>
          <a:xfrm>
            <a:off x="2606040" y="1005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005840"/>
            <a:ext cx="18288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npm ci + npm test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09728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tep-2"/>
          <p:cNvSpPr/>
          <p:nvPr/>
        </p:nvSpPr>
        <p:spPr>
          <a:xfrm>
            <a:off x="4754880" y="1005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005840"/>
            <a:ext cx="18288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build-and-push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Docker image to GHCR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09728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tep-3"/>
          <p:cNvSpPr/>
          <p:nvPr/>
        </p:nvSpPr>
        <p:spPr>
          <a:xfrm>
            <a:off x="6903720" y="1005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005840"/>
            <a:ext cx="18288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deploy-to-kind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kubectl apply + rollout</a:t>
            </a:r>
            <a:endParaRPr lang="en-US" sz="1300" dirty="0"/>
          </a:p>
        </p:txBody>
      </p:sp>
      <p:pic>
        <p:nvPicPr>
          <p:cNvPr id="14" name="Image 0" descr="GitHub Actions run with test, build-and-push and deploy-to-kind all g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25346"/>
            <a:ext cx="5486400" cy="2624428"/>
          </a:xfrm>
          <a:prstGeom prst="rect">
            <a:avLst/>
          </a:prstGeom>
        </p:spPr>
      </p:pic>
      <p:sp>
        <p:nvSpPr>
          <p:cNvPr id="15" name="notes-card"/>
          <p:cNvSpPr/>
          <p:nvPr/>
        </p:nvSpPr>
        <p:spPr>
          <a:xfrm>
            <a:off x="6217920" y="2011680"/>
            <a:ext cx="2468880" cy="265176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214884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All 3 jobs passed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test: 42s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build-and-push: 25s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deploy-to-kind: 1m 5s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Total: 2m 24s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Workflow: .github/workflows/ci-cd.yml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</a:rPr>
              <a:t>Configuration management, containers and Kubernetes</a:t>
            </a:r>
            <a:endParaRPr lang="en-US" sz="2600" dirty="0"/>
          </a:p>
        </p:txBody>
      </p:sp>
      <p:pic>
        <p:nvPicPr>
          <p:cNvPr id="3" name="Image 0" descr="Ansible: run 1 changed=5, run 2 changed=0 (idempoten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678" y="1005840"/>
            <a:ext cx="2366404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596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</a:rPr>
              <a:t>Ansible: run 1 changed=5, run 2 changed=0 (idempotent)</a:t>
            </a:r>
            <a:endParaRPr lang="en-US" sz="1100" dirty="0"/>
          </a:p>
        </p:txBody>
      </p:sp>
      <p:pic>
        <p:nvPicPr>
          <p:cNvPr id="5" name="Image 1" descr="Kubernetes: 3 backend pods + MongoDB run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24409"/>
            <a:ext cx="4023360" cy="131734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663440" y="2596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</a:rPr>
              <a:t>Kubernetes: 3 backend pods + MongoDB running</a:t>
            </a:r>
            <a:endParaRPr lang="en-US" sz="1100" dirty="0"/>
          </a:p>
        </p:txBody>
      </p:sp>
      <p:pic>
        <p:nvPicPr>
          <p:cNvPr id="7" name="Image 2" descr="Rolling update v1 to v2, zero downti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22" y="2944368"/>
            <a:ext cx="3515516" cy="1554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4535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</a:rPr>
              <a:t>Rolling update v1 to v2, zero downtime</a:t>
            </a:r>
            <a:endParaRPr lang="en-US" sz="1100" dirty="0"/>
          </a:p>
        </p:txBody>
      </p:sp>
      <p:pic>
        <p:nvPicPr>
          <p:cNvPr id="9" name="Image 3" descr="Rollback with kubectl rollout un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66" y="2944368"/>
            <a:ext cx="3067507" cy="1554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663440" y="4535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</a:rPr>
              <a:t>Rollback with kubectl rollout undo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</a:rPr>
              <a:t>Monitoring with Prometheus and Grafana</a:t>
            </a:r>
            <a:endParaRPr lang="en-US" sz="2600" dirty="0"/>
          </a:p>
        </p:txBody>
      </p:sp>
      <p:pic>
        <p:nvPicPr>
          <p:cNvPr id="3" name="Image 0" descr="Grafana dashboard with uptime, request rate, p95 latency and error rate pane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6160"/>
            <a:ext cx="5852160" cy="3251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389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</a:rPr>
              <a:t>Dashboard: uptime, request rate, p95 latency, 5xx error rate</a:t>
            </a:r>
            <a:endParaRPr lang="en-US" sz="1100" dirty="0"/>
          </a:p>
        </p:txBody>
      </p:sp>
      <p:pic>
        <p:nvPicPr>
          <p:cNvPr id="5" name="Image 1" descr="Prometheus targets page showing pbl-backend 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66800"/>
            <a:ext cx="2194560" cy="9753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92240" y="22860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Target pbl-backend is UP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Custom metrics: latency histogram and request counter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Error spike generated with a demo /api/error endpoint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</a:rPr>
              <a:t>Challenges and lessons learned</a:t>
            </a:r>
            <a:endParaRPr lang="en-US" sz="2600" dirty="0"/>
          </a:p>
        </p:txBody>
      </p:sp>
      <p:sp>
        <p:nvSpPr>
          <p:cNvPr id="3" name="card-Challenges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Challenges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Ports 9090 and 8080 blocked, so 9091 and 18080 were used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WSL had no network, so Ansible ran in an Ubuntu container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Grafana error panel had no data until 5xx errors existed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npm test failed on Node 24, script fixed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Secrets kept out of git with .gitignore and a Kubernetes Secret</a:t>
            </a:r>
            <a:endParaRPr lang="en-US" sz="1300" dirty="0"/>
          </a:p>
        </p:txBody>
      </p:sp>
      <p:sp>
        <p:nvSpPr>
          <p:cNvPr id="6" name="card-Lessons learned"/>
          <p:cNvSpPr/>
          <p:nvPr/>
        </p:nvSpPr>
        <p:spPr>
          <a:xfrm>
            <a:off x="466344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Lessons learned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Readiness probes and maxUnavailable 0 give zero-downtime updates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Rollback is a single command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A histogram and a counter are enough for uptime, latency and errors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Ansible is idempotent: second run changed nothing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Check environment basics first to save time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vOps CA2">
  <a:themeElements>
    <a:clrScheme name="DevOps CA2">
      <a:dk1>
        <a:srgbClr val="1B2430"/>
      </a:dk1>
      <a:lt1>
        <a:srgbClr val="FFFFFF"/>
      </a:lt1>
      <a:dk2>
        <a:srgbClr val="0F766E"/>
      </a:dk2>
      <a:lt2>
        <a:srgbClr val="F1F5F9"/>
      </a:lt2>
      <a:accent1>
        <a:srgbClr val="0F766E"/>
      </a:accent1>
      <a:accent2>
        <a:srgbClr val="F59E0B"/>
      </a:accent2>
      <a:accent3>
        <a:srgbClr val="2563EB"/>
      </a:accent3>
      <a:accent4>
        <a:srgbClr val="7C3AED"/>
      </a:accent4>
      <a:accent5>
        <a:srgbClr val="DC2626"/>
      </a:accent5>
      <a:accent6>
        <a:srgbClr val="64748B"/>
      </a:accent6>
      <a:hlink>
        <a:srgbClr val="2563EB"/>
      </a:hlink>
      <a:folHlink>
        <a:srgbClr val="7C3AED"/>
      </a:folHlink>
    </a:clrScheme>
    <a:fontScheme name="DevOps CA2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CA2 - PBL Backend</dc:title>
  <dc:subject>PptxGenJS Presentation</dc:subject>
  <dc:creator>PptxGenJS</dc:creator>
  <cp:lastModifiedBy>PptxGenJS</cp:lastModifiedBy>
  <cp:revision>1</cp:revision>
  <dcterms:created xsi:type="dcterms:W3CDTF">2026-10-04T15:17:14Z</dcterms:created>
  <dcterms:modified xsi:type="dcterms:W3CDTF">2026-10-04T15:17:14Z</dcterms:modified>
</cp:coreProperties>
</file>